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880360" y="1005840"/>
            <a:ext cx="3383280" cy="1828800"/>
          </a:xfrm>
          <a:prstGeom prst="rect">
            <a:avLst/>
          </a:prstGeom>
          <a:solidFill>
            <a:srgbClr val="0F28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80360" y="1143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spc="8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880360" y="19659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INTELIGÊNCIA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6BA5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EXPERIENCE THE EXCEPTIONAL, EVERYWHERE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Beach Enclave ready for the group era.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 for Beach Enclave  · 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40080" y="621792"/>
            <a:ext cx="365760" cy="0"/>
          </a:xfrm>
          <a:prstGeom prst="line">
            <a:avLst/>
          </a:prstGeom>
          <a:noFill/>
          <a:ln w="12700">
            <a:solidFill>
              <a:srgbClr val="4A7E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EMBRACE THE PROOF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840480" cy="3474720"/>
          </a:xfrm>
          <a:prstGeom prst="rect">
            <a:avLst/>
          </a:prstGeom>
          <a:solidFill>
            <a:srgbClr val="0F283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NAMED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MAYA HANDFIELD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228600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ÁMBRA. Ingests invoices from email and sales reports from POS. Posts to ledger. Runs every morning. Zero human error. March and April data already flowing.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 →  Supabase  →  Ledger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749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371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VASCO, ON SEEING IT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4A7E9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120640" y="23774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Love it. I wish my team was all in on this stuff.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20640" y="3840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VASCO BORGES  ·  10 APRIL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13232"/>
            <a:ext cx="365760" cy="0"/>
          </a:xfrm>
          <a:prstGeom prst="line">
            <a:avLst/>
          </a:prstGeom>
          <a:noFill/>
          <a:ln w="12700">
            <a:solidFill>
              <a:srgbClr val="6BA5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HOTEL RUNS ON HEROES.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6BA5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group runs on playbooks.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32004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 Enclave is headed toward group operations. Resort groups scale on systems, not only on people. Today, BE's operational knowledge — the standards of service, the supplier relationships, the pricing instincts, the brand voice — lives inside individuals. When those people move on, it goes with them.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4526280"/>
            <a:ext cx="54864" cy="54864"/>
          </a:xfrm>
          <a:prstGeom prst="ellipse">
            <a:avLst/>
          </a:prstGeom>
          <a:solidFill>
            <a:srgbClr val="6BA5B9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STANDARDS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80360" y="4526280"/>
            <a:ext cx="54864" cy="54864"/>
          </a:xfrm>
          <a:prstGeom prst="ellipse">
            <a:avLst/>
          </a:prstGeom>
          <a:solidFill>
            <a:srgbClr val="6BA5B9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KNOWLEDGE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4526280"/>
            <a:ext cx="54864" cy="54864"/>
          </a:xfrm>
          <a:prstGeom prst="ellipse">
            <a:avLst/>
          </a:prstGeom>
          <a:solidFill>
            <a:srgbClr val="6BA5B9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SIGNALS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12280" y="4526280"/>
            <a:ext cx="54864" cy="54864"/>
          </a:xfrm>
          <a:prstGeom prst="ellipse">
            <a:avLst/>
          </a:prstGeom>
          <a:solidFill>
            <a:srgbClr val="6BA5B9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44348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THAT TRAVELS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40080" y="621792"/>
            <a:ext cx="365760" cy="0"/>
          </a:xfrm>
          <a:prstGeom prst="line">
            <a:avLst/>
          </a:prstGeom>
          <a:noFill/>
          <a:ln w="12700">
            <a:solidFill>
              <a:srgbClr val="4A7E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AI-FIRST OPERATING</a:t>
            </a:r>
            <a:endParaRPr lang="en-US" sz="2200" dirty="0"/>
          </a:p>
          <a:p>
            <a:pPr indent="0" marL="0">
              <a:buNone/>
            </a:pPr>
            <a:r>
              <a:rPr lang="en-US" sz="22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LAYER FOR BEACH ENCLAVE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48640" cy="13716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031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Inteligência is not a product. It is an operational layer that sits across the group — codifying how BE runs, so every property, every department, every new hire inherits the same playbook.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114800" cy="1097280"/>
          </a:xfrm>
          <a:prstGeom prst="rect">
            <a:avLst/>
          </a:prstGeom>
          <a:solidFill>
            <a:srgbClr val="0F2830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33756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DIRECT FROM YOUR BRIEF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marketing. CRM. Shopping the comp set. Repeat-guest recognition. Automated responses. Contracts.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960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0" y="960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CODIFY OPERATIONS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0" y="12344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tacit knowledge into cross-referenced SOPs that survive turnover.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0" y="1828800"/>
            <a:ext cx="3383280" cy="4572"/>
          </a:xfrm>
          <a:prstGeom prst="rect">
            <a:avLst/>
          </a:prstGeom>
          <a:solidFill>
            <a:srgbClr val="D6DEE3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640" y="1920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INSIGHT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21945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replace static reports and manual monthly roll-ups.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2788920"/>
            <a:ext cx="3383280" cy="4572"/>
          </a:xfrm>
          <a:prstGeom prst="rect">
            <a:avLst/>
          </a:prstGeom>
          <a:solidFill>
            <a:srgbClr val="D6DEE3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880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THE TEAM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69280" y="31546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equipped with AI, not replaced by it — amplified judgment.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0" y="3749040"/>
            <a:ext cx="3383280" cy="4572"/>
          </a:xfrm>
          <a:prstGeom prst="rect">
            <a:avLst/>
          </a:prstGeom>
          <a:solidFill>
            <a:srgbClr val="D6DEE3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3840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0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DECISIONS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41148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and department heads operate with an AI partner, not an inbox.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40080" y="621792"/>
            <a:ext cx="365760" cy="0"/>
          </a:xfrm>
          <a:prstGeom prst="line">
            <a:avLst/>
          </a:prstGeom>
          <a:noFill/>
          <a:ln w="12700">
            <a:solidFill>
              <a:srgbClr val="4A7E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ORCHESTRATOR  ·  THREE PILLARS  ·  MANY SOURCES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926080" y="1554480"/>
            <a:ext cx="32918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E9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66420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520440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20440" y="1828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tasking via WhatsApp &amp; email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62856" y="2194560"/>
            <a:ext cx="18288" cy="274320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11" name="Shape 8"/>
          <p:cNvSpPr/>
          <p:nvPr/>
        </p:nvSpPr>
        <p:spPr>
          <a:xfrm>
            <a:off x="2011680" y="2468880"/>
            <a:ext cx="5120640" cy="777240"/>
          </a:xfrm>
          <a:prstGeom prst="rect">
            <a:avLst/>
          </a:prstGeom>
          <a:solidFill>
            <a:srgbClr val="0F2830"/>
          </a:solidFill>
          <a:ln/>
        </p:spPr>
      </p:sp>
      <p:sp>
        <p:nvSpPr>
          <p:cNvPr id="12" name="Text 9"/>
          <p:cNvSpPr/>
          <p:nvPr/>
        </p:nvSpPr>
        <p:spPr>
          <a:xfrm>
            <a:off x="2011680" y="25420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ORCHESTRATOR AGENT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286000" y="2816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high-level goals into actionable tasks. Routes to humans and specialist agents.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62856" y="3246120"/>
            <a:ext cx="18288" cy="228600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15" name="Shape 12"/>
          <p:cNvSpPr/>
          <p:nvPr/>
        </p:nvSpPr>
        <p:spPr>
          <a:xfrm>
            <a:off x="1737360" y="3456432"/>
            <a:ext cx="5669280" cy="13716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16" name="Shape 13"/>
          <p:cNvSpPr/>
          <p:nvPr/>
        </p:nvSpPr>
        <p:spPr>
          <a:xfrm>
            <a:off x="1700784" y="3419856"/>
            <a:ext cx="73152" cy="73152"/>
          </a:xfrm>
          <a:prstGeom prst="ellipse">
            <a:avLst/>
          </a:prstGeom>
          <a:solidFill>
            <a:srgbClr val="4A7E9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35424" y="3419856"/>
            <a:ext cx="73152" cy="73152"/>
          </a:xfrm>
          <a:prstGeom prst="ellipse">
            <a:avLst/>
          </a:prstGeom>
          <a:solidFill>
            <a:srgbClr val="4A7E92"/>
          </a:solidFill>
          <a:ln/>
        </p:spPr>
      </p:sp>
      <p:sp>
        <p:nvSpPr>
          <p:cNvPr id="18" name="Shape 15"/>
          <p:cNvSpPr/>
          <p:nvPr/>
        </p:nvSpPr>
        <p:spPr>
          <a:xfrm>
            <a:off x="7370064" y="3419856"/>
            <a:ext cx="73152" cy="73152"/>
          </a:xfrm>
          <a:prstGeom prst="ellipse">
            <a:avLst/>
          </a:prstGeom>
          <a:solidFill>
            <a:srgbClr val="4A7E92"/>
          </a:solidFill>
          <a:ln/>
        </p:spPr>
      </p:sp>
      <p:sp>
        <p:nvSpPr>
          <p:cNvPr id="19" name="Shape 16"/>
          <p:cNvSpPr/>
          <p:nvPr/>
        </p:nvSpPr>
        <p:spPr>
          <a:xfrm>
            <a:off x="1737360" y="3465576"/>
            <a:ext cx="18288" cy="182880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0" y="3465576"/>
            <a:ext cx="18288" cy="182880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21" name="Shape 18"/>
          <p:cNvSpPr/>
          <p:nvPr/>
        </p:nvSpPr>
        <p:spPr>
          <a:xfrm>
            <a:off x="7406640" y="3465576"/>
            <a:ext cx="18288" cy="182880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22" name="Shape 19"/>
          <p:cNvSpPr/>
          <p:nvPr/>
        </p:nvSpPr>
        <p:spPr>
          <a:xfrm>
            <a:off x="640080" y="365760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657600"/>
            <a:ext cx="36576" cy="1005840"/>
          </a:xfrm>
          <a:prstGeom prst="rect">
            <a:avLst/>
          </a:prstGeom>
          <a:solidFill>
            <a:srgbClr val="4A7E92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767328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7724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77724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property details,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contacts, brand standards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3474720" y="365760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474720" y="3657600"/>
            <a:ext cx="36576" cy="1005840"/>
          </a:xfrm>
          <a:prstGeom prst="rect">
            <a:avLst/>
          </a:prstGeom>
          <a:solidFill>
            <a:srgbClr val="4A7E92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767328"/>
            <a:ext cx="320040" cy="32004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61188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LAYER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61188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KPIs, F&amp;B cost,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dashboards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309360" y="365760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309360" y="3657600"/>
            <a:ext cx="36576" cy="1005840"/>
          </a:xfrm>
          <a:prstGeom prst="rect">
            <a:avLst/>
          </a:prstGeom>
          <a:solidFill>
            <a:srgbClr val="4A7E92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767328"/>
            <a:ext cx="320040" cy="3200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446520" y="41148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5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SYSTEM</a:t>
            </a:r>
            <a:endParaRPr lang="en-US" sz="800" dirty="0"/>
          </a:p>
        </p:txBody>
      </p:sp>
      <p:sp>
        <p:nvSpPr>
          <p:cNvPr id="36" name="Text 30"/>
          <p:cNvSpPr/>
          <p:nvPr/>
        </p:nvSpPr>
        <p:spPr>
          <a:xfrm>
            <a:off x="6446520" y="43159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— assignment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humans + agents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40080" y="4754880"/>
            <a:ext cx="7863840" cy="320040"/>
          </a:xfrm>
          <a:prstGeom prst="rect">
            <a:avLst/>
          </a:prstGeom>
          <a:solidFill>
            <a:srgbClr val="0F2830"/>
          </a:solidFill>
          <a:ln/>
        </p:spPr>
      </p:sp>
      <p:sp>
        <p:nvSpPr>
          <p:cNvPr id="38" name="Text 32"/>
          <p:cNvSpPr/>
          <p:nvPr/>
        </p:nvSpPr>
        <p:spPr>
          <a:xfrm>
            <a:off x="822960" y="478231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700" dirty="0"/>
          </a:p>
        </p:txBody>
      </p:sp>
      <p:sp>
        <p:nvSpPr>
          <p:cNvPr id="39" name="Text 33"/>
          <p:cNvSpPr/>
          <p:nvPr/>
        </p:nvSpPr>
        <p:spPr>
          <a:xfrm>
            <a:off x="2194560" y="47823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· Silverware POS · Email · OpenTable · Opera PMS · Database · CRM · Excel · TripAdvisor · Google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40080" y="621792"/>
            <a:ext cx="365760" cy="0"/>
          </a:xfrm>
          <a:prstGeom prst="line">
            <a:avLst/>
          </a:prstGeom>
          <a:noFill/>
          <a:ln w="12700">
            <a:solidFill>
              <a:srgbClr val="4A7E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PILLARS FOR THE FIRST SIX MONTHS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286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cohesive, cross-referenced library of standard operating procedures spanning every department. AI drafts and structures; humans validate.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37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7373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286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KPIs, and cost dashboards modeled on the Maya approach. Clean data, automated ingestion, live visibility.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41732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enablement for the management team to use AI tools in daily work — forecasting, analysis, drafting, research.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00600" y="3291840"/>
            <a:ext cx="3886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429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77840" y="34290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AI</a:t>
            </a:r>
            <a:endParaRPr lang="en-US" sz="1200" dirty="0"/>
          </a:p>
          <a:p>
            <a:pPr indent="0" marL="0">
              <a:buNone/>
            </a:pPr>
            <a:r>
              <a:rPr lang="en-US" sz="1200" b="1" spc="100" kern="0" dirty="0">
                <a:solidFill>
                  <a:srgbClr val="0F1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7784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agent connected to email and Asana. Breaks concepts into tasks, tracks completion, drafts comms.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40080" y="621792"/>
            <a:ext cx="365760" cy="0"/>
          </a:xfrm>
          <a:prstGeom prst="line">
            <a:avLst/>
          </a:prstGeom>
          <a:noFill/>
          <a:ln w="12700">
            <a:solidFill>
              <a:srgbClr val="4A7E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MONTHS TO A WORKING FOUNDATION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1691640"/>
            <a:ext cx="6400800" cy="9144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7" name="Shape 5"/>
          <p:cNvSpPr/>
          <p:nvPr/>
        </p:nvSpPr>
        <p:spPr>
          <a:xfrm>
            <a:off x="1764792" y="158191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7E9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64792" y="15544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FOUNDATION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 &amp; 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880360"/>
            <a:ext cx="1920240" cy="4572"/>
          </a:xfrm>
          <a:prstGeom prst="rect">
            <a:avLst/>
          </a:prstGeom>
          <a:solidFill>
            <a:srgbClr val="D6DEE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0175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Data audit across properties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Centralize system access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Knowledge gathering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SOP template architecture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Analytics scoping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Asana rollout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70832" y="158191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7E9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5544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46120" y="1965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4612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246120" y="2560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Codify &amp;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20440" y="2880360"/>
            <a:ext cx="1920240" cy="4572"/>
          </a:xfrm>
          <a:prstGeom prst="rect">
            <a:avLst/>
          </a:prstGeom>
          <a:solidFill>
            <a:srgbClr val="D6DEE3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30175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AI-assisted SOP generation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Sales &amp; KPI dashboard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CEO AI assistant live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Management AI training begins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Knowledge base v1 searchable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976872" y="1581912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A7E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76872" y="155448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E9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52160" y="196596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5–6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85216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REFINE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52160" y="25603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B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&amp; plan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1920240" cy="4572"/>
          </a:xfrm>
          <a:prstGeom prst="rect">
            <a:avLst/>
          </a:prstGeom>
          <a:solidFill>
            <a:srgbClr val="D6DEE3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301752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KPI adoption review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Gap analysis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SOP library v1 signed off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Phase 2: specialized agents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B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Group-replication playbook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40080" y="621792"/>
            <a:ext cx="365760" cy="0"/>
          </a:xfrm>
          <a:prstGeom prst="line">
            <a:avLst/>
          </a:prstGeom>
          <a:noFill/>
          <a:ln w="12700">
            <a:solidFill>
              <a:srgbClr val="4A7E9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300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PART-TIME PARTNERSHIP  ·  LONG-TERM ENGAGEMENT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886200" cy="2560320"/>
          </a:xfrm>
          <a:prstGeom prst="rect">
            <a:avLst/>
          </a:prstGeom>
          <a:solidFill>
            <a:srgbClr val="0F283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83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PRIMARY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MONTHLY RETAINER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6BA5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$3,000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10896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0120" y="3200400"/>
            <a:ext cx="457200" cy="9144"/>
          </a:xfrm>
          <a:prstGeom prst="rect">
            <a:avLst/>
          </a:prstGeom>
          <a:solidFill>
            <a:srgbClr val="6BA5B9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33756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consulting, architecture, integrations, team training, ongoing maintenance of delivered systems, and unlimited access across the engagement.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600200"/>
            <a:ext cx="37490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1783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492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OUT-OF-SCOPE DAY RATE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74920" y="2468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F192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$250–$300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7589520" y="2606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day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74920" y="3200400"/>
            <a:ext cx="457200" cy="9144"/>
          </a:xfrm>
          <a:prstGeom prst="rect">
            <a:avLst/>
          </a:prstGeom>
          <a:solidFill>
            <a:srgbClr val="4A7E92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3375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defined project work beyond retainer scope — a net-new specialized agent build, a full property SOP rollout. Quoted in advance.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7863840" cy="4572"/>
          </a:xfrm>
          <a:prstGeom prst="rect">
            <a:avLst/>
          </a:prstGeom>
          <a:solidFill>
            <a:srgbClr val="D6DEE3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434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REMOTE-FIRST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delivery; cross-pollination from other TCI operations is a feature.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4434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PILOT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8328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at month 6 against roadmap deliverables; extend, adjust, or step back.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4434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STAYS SEPARATE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12648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ÁMBRA bookkeeping agent continues under LBBC at $300/month. Distinct engagement.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30352"/>
            <a:ext cx="365760" cy="0"/>
          </a:xfrm>
          <a:prstGeom prst="line">
            <a:avLst/>
          </a:prstGeom>
          <a:noFill/>
          <a:ln w="12700">
            <a:solidFill>
              <a:srgbClr val="6BA5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" y="411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BA5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spc="200" kern="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KICK-OFF WITHIN TWO WEEKS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97280" y="1508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A5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SIGN-OFF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5087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6-month pilot scope and commercial model.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1965960"/>
            <a:ext cx="6949440" cy="4572"/>
          </a:xfrm>
          <a:prstGeom prst="rect">
            <a:avLst/>
          </a:prstGeom>
          <a:solidFill>
            <a:srgbClr val="1A3E4C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756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A5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20756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INTRODUCTIONS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20756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Tanithca, Sophia, the new S&amp;M lead, and HR.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2532888"/>
            <a:ext cx="6949440" cy="4572"/>
          </a:xfrm>
          <a:prstGeom prst="rect">
            <a:avLst/>
          </a:prstGeom>
          <a:solidFill>
            <a:srgbClr val="1A3E4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6426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A5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642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ASANA SETUP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0" y="26426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provision the workspace and onboard you.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099816"/>
            <a:ext cx="6949440" cy="4572"/>
          </a:xfrm>
          <a:prstGeom prst="rect">
            <a:avLst/>
          </a:prstGeom>
          <a:solidFill>
            <a:srgbClr val="1A3E4C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2095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A5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32095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KNOWLEDGE-BASE SESSION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3209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org, contacts, standards, supplier relationships.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97280" y="3666744"/>
            <a:ext cx="6949440" cy="4572"/>
          </a:xfrm>
          <a:prstGeom prst="rect">
            <a:avLst/>
          </a:prstGeom>
          <a:solidFill>
            <a:srgbClr val="1A3E4C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776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A5B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37360" y="37764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SIGNED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7764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engagement letter. Pilot starts inside two weeks.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434840"/>
            <a:ext cx="9144000" cy="9144"/>
          </a:xfrm>
          <a:prstGeom prst="rect">
            <a:avLst/>
          </a:prstGeom>
          <a:solidFill>
            <a:srgbClr val="1A3E4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6A5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daniel@hoffmanntci.com   ·   +1 649 344 2441   ·   Hoffmann Ltd, Providenciales, TCI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846320"/>
            <a:ext cx="7863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A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Hoffmann Ltd  ·  A proposal for Beach Enclave  ·  Confidential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 Inteligência — A Concept for Beach Enclave</dc:title>
  <dc:subject>PptxGenJS Presentation</dc:subject>
  <dc:creator>Daniel Hoffmann</dc:creator>
  <cp:lastModifiedBy>Daniel Hoffmann</cp:lastModifiedBy>
  <cp:revision>1</cp:revision>
  <dcterms:created xsi:type="dcterms:W3CDTF">2026-04-16T17:30:06Z</dcterms:created>
  <dcterms:modified xsi:type="dcterms:W3CDTF">2026-04-16T17:30:06Z</dcterms:modified>
</cp:coreProperties>
</file>